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1" r:id="rId5"/>
    <p:sldId id="265" r:id="rId6"/>
    <p:sldId id="264" r:id="rId7"/>
    <p:sldId id="268" r:id="rId8"/>
    <p:sldId id="267" r:id="rId9"/>
    <p:sldId id="26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252"/>
    <a:srgbClr val="3F3F3F"/>
    <a:srgbClr val="CC3300"/>
    <a:srgbClr val="FF3300"/>
    <a:srgbClr val="DDE0FF"/>
    <a:srgbClr val="F0DDFF"/>
    <a:srgbClr val="FFDDFF"/>
    <a:srgbClr val="0000CC"/>
    <a:srgbClr val="0000FF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D2339-84B0-4FD9-AC39-B0A5EFF8B9D5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6ACB1A-E0B1-4184-855D-3B924D3FAD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69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Solid tumors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CB1A-E0B1-4184-855D-3B924D3FAD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768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every tumor is cancer, but every cancer begins as a tumor.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CB1A-E0B1-4184-855D-3B924D3FADA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944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tumor is an evolving population rather than a collection of identical cells.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CB1A-E0B1-4184-855D-3B924D3FADA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03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we need research. – Mathe allows us to perform virtual experiments that would be impossible, too expensive to explore, or too time-consuming in real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6ACB1A-E0B1-4184-855D-3B924D3FADA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724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E851D-4E94-EB4F-ADBD-666DD1A2B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FABEC-C761-BFA4-1F82-E368A60549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3E33A-53C1-89FA-07F1-472143FC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0D481-29B4-06FA-B3E0-5AB51D232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A8BD3-4591-CFB2-2325-C1B7F9CB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3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A2E15-9B53-DE7E-F4D3-9468D862E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F6C5-2AC8-523E-D3DA-1183A3D51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1B03E-40AC-0CC6-862A-0F2A9C72D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4E38E-B77F-75BA-79DD-3EF46DC1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523E5-4B3E-EA77-4A8B-810B28D1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25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8671C-7540-89D5-E44C-38BC9323C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515B55-7C6C-DD3E-338B-A05C15B787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55A01-C3EA-0B1E-5C94-5F05E9D9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3EABB-015C-CFC5-8025-8B844FA2D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6F499-4D92-0C8F-8484-03377663D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04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2116D-64C6-BD20-FD7B-7F8F2D0F3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73F00-3112-074A-238A-A7FCD92B40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62AD0A-9A8B-38BD-06AF-B9A56E226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5B351A-018F-236E-6F9C-B7D7F9810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991862-E3B7-D055-01CA-D3336BC7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686B28-6D34-D52E-5871-7667A23D0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605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76F6-F752-F2CD-E029-9421958B3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8890BC-79BC-1A28-4EF7-59F99792F0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0D4814-4CE7-1964-4DD7-A195A2B02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42D7C-6E27-A5D5-7FC7-5E244E41D0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545A5A-AEBE-6004-2C05-4EEE58BEB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DB2799-0261-C8E9-DADC-8F3789DE0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954940-FE75-7462-D255-99448269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B115B0-D371-A8FB-F30B-785EBA4D3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15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C4862-D7CF-DC1F-5582-A319F57F5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14CF1D-0F43-3F1C-D95C-014D3750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90AAE1-3D37-4F77-3ED1-D8E65AD64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C86544-DBE7-3299-7836-B2E0DC8A8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75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9BC515-ADF1-C5DB-56B5-01EA7F52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DA5EE0-5666-C1CE-CC5C-47188E0C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A839B-F78B-F529-10FF-80FA5C375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08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92D1-D544-CBF3-A669-DBB55C75C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19EEA4-8633-B5AA-5C13-9D88E9C26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51364F-BB15-57B8-9369-664E305015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434C6-FDBF-3220-D851-8227A63E4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397DB1-9F43-1B02-562F-3BF1F1398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1AEED-BCE7-E2D1-1474-72E061CC1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34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3F163-3FE8-72D9-FBA0-1D52C368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657997-E913-982F-E18A-DCD6564CF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47D82-2CC4-8AE2-80D7-1E4839F5FE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10877-0016-9689-BAC3-8E07AC4A96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9361CD-F131-E045-C784-8D907EE16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594EE-808B-A3FB-C923-5C2F52DF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78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4B073-36FC-BEB5-732A-3F40CF90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C2B7B1-3AAF-569F-C3BF-B791B1DCF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6D943-832C-97B5-D06A-D78A9F14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ED2274-FAFC-14F4-CC2D-55D7C26F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7DE72-23D7-A0E3-4A40-097C07BEA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60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38962E-E99E-3A42-F8FD-2AB09CA38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03610-EE3E-5597-7D11-268FF34FC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C6CBC-57DF-249D-4453-0C9C29729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076A1E-3063-65E3-0F95-B3BF2754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369FE-0751-70B6-EBAC-CDB85B1B0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295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923FC0-B573-79C2-A505-AC826C55A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F61A49-59D3-5BA1-C9EA-5A669B16E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97326-7BAF-AE6B-78D9-3487ADAED5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9E292E-1C42-4448-89E0-8A0E3E2BD34B}" type="datetimeFigureOut">
              <a:rPr lang="en-US" smtClean="0"/>
              <a:t>7/28/2026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55CBD1-F911-748A-9DF1-290ADBAB0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D43233-5B59-1131-F50E-80DBFAD92D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A211FD-881D-456B-A4A2-D7007E088D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24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F120-88CA-E6EE-FA24-47EA7DFA32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dirty="0"/>
              <a:t>What Is a Tumor?</a:t>
            </a:r>
            <a:br>
              <a:rPr lang="en-US" dirty="0"/>
            </a:br>
            <a:r>
              <a:rPr lang="en-US" sz="2600" i="1" dirty="0">
                <a:solidFill>
                  <a:srgbClr val="525252"/>
                </a:solidFill>
              </a:rPr>
              <a:t>How Tumors Grow, Evolve, and Respond to Treatment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A387A-E087-AD59-ADAF-C5E45EC2E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82880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sz="3200" dirty="0"/>
              <a:t>Hyunah Lim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Postdoctoral Associate</a:t>
            </a:r>
          </a:p>
          <a:p>
            <a:pPr>
              <a:lnSpc>
                <a:spcPct val="80000"/>
              </a:lnSpc>
              <a:spcBef>
                <a:spcPts val="600"/>
              </a:spcBef>
            </a:pPr>
            <a:r>
              <a:rPr lang="en-US" dirty="0"/>
              <a:t>Institute for Health Computing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41EBA6-678B-B859-9E8F-02A6B8D39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787" y="5469143"/>
            <a:ext cx="3273230" cy="7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11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0187-96BB-3221-A13E-81A82A3E1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How Does a Tumor Begin?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BDACE4-9163-C412-DB4E-E3BBBE224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28647"/>
            <a:ext cx="12192000" cy="28246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629182-4494-5338-5E1E-50D0F53E73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6823"/>
          <a:stretch>
            <a:fillRect/>
          </a:stretch>
        </p:blipFill>
        <p:spPr>
          <a:xfrm>
            <a:off x="0" y="5596476"/>
            <a:ext cx="12192000" cy="8700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14CEC8-C4CF-B226-6A01-E298E45CE560}"/>
              </a:ext>
            </a:extLst>
          </p:cNvPr>
          <p:cNvSpPr txBox="1"/>
          <p:nvPr/>
        </p:nvSpPr>
        <p:spPr>
          <a:xfrm>
            <a:off x="4052876" y="1459855"/>
            <a:ext cx="40862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95969"/>
                </a:solidFill>
              </a:rPr>
              <a:t>Tumors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begin with a mutation</a:t>
            </a:r>
          </a:p>
        </p:txBody>
      </p:sp>
    </p:spTree>
    <p:extLst>
      <p:ext uri="{BB962C8B-B14F-4D97-AF65-F5344CB8AC3E}">
        <p14:creationId xmlns:p14="http://schemas.microsoft.com/office/powerpoint/2010/main" val="12229914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D7F806D-BF3B-DC8C-5469-FF29B13D3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From Tumor to Cancer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98B42F-B54A-EA44-5D6E-B735E614B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200" dirty="0">
                <a:solidFill>
                  <a:srgbClr val="008000"/>
                </a:solidFill>
              </a:rPr>
              <a:t>Benign Tumor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B5B523-B5D6-9F4D-281C-814358815F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Grows in a limited, contained mass</a:t>
            </a:r>
          </a:p>
          <a:p>
            <a:r>
              <a:rPr lang="en-US" dirty="0"/>
              <a:t>Does not invade nearby tissues</a:t>
            </a:r>
          </a:p>
          <a:p>
            <a:r>
              <a:rPr lang="en-US" dirty="0"/>
              <a:t>Often treatable by surgery</a:t>
            </a:r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F2F45C-76DD-D84F-04F2-87B259ADAE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en-US" sz="3200" dirty="0">
                <a:solidFill>
                  <a:srgbClr val="CC3300"/>
                </a:solidFill>
              </a:rPr>
              <a:t>Malignant Tumor (Cancer)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DCA084B-F71D-4156-6768-11894CF5DD9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Invades surrounding tissues</a:t>
            </a:r>
          </a:p>
          <a:p>
            <a:r>
              <a:rPr lang="en-US" dirty="0"/>
              <a:t>Spreads to other parts of the body</a:t>
            </a:r>
          </a:p>
          <a:p>
            <a:r>
              <a:rPr lang="en-US" dirty="0"/>
              <a:t>Damages normal tissues and organ functions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376F56-FB7A-F9AA-60F7-F6EE545F53AD}"/>
              </a:ext>
            </a:extLst>
          </p:cNvPr>
          <p:cNvSpPr txBox="1"/>
          <p:nvPr/>
        </p:nvSpPr>
        <p:spPr>
          <a:xfrm>
            <a:off x="2193435" y="5364428"/>
            <a:ext cx="81828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Not every tumor is cancer, </a:t>
            </a:r>
          </a:p>
          <a:p>
            <a:pPr algn="ctr"/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but for any solid tumor, cancer begins as a tumor.</a:t>
            </a:r>
          </a:p>
        </p:txBody>
      </p:sp>
    </p:spTree>
    <p:extLst>
      <p:ext uri="{BB962C8B-B14F-4D97-AF65-F5344CB8AC3E}">
        <p14:creationId xmlns:p14="http://schemas.microsoft.com/office/powerpoint/2010/main" val="1074468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785E5-98B2-AF85-8BFF-86BAFF681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Diversity Within a Tumor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2E68A6-AFF3-3668-E40C-E8CCA9614C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327" y="1868466"/>
            <a:ext cx="4277322" cy="27150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D3FFCC-008B-95A4-5CE8-B67024CB512A}"/>
              </a:ext>
            </a:extLst>
          </p:cNvPr>
          <p:cNvSpPr txBox="1"/>
          <p:nvPr/>
        </p:nvSpPr>
        <p:spPr>
          <a:xfrm>
            <a:off x="5572538" y="1742661"/>
            <a:ext cx="5781261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Different tumor cells can have different abilities: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Grow faster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Resist cell death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Resist treatments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Survive in harsh environments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Evade </a:t>
            </a:r>
            <a:r>
              <a:rPr lang="en-US" sz="2800"/>
              <a:t>immune system</a:t>
            </a: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B85DD7-F2D5-72CF-F356-542E5B5E1C7A}"/>
              </a:ext>
            </a:extLst>
          </p:cNvPr>
          <p:cNvSpPr txBox="1"/>
          <p:nvPr/>
        </p:nvSpPr>
        <p:spPr>
          <a:xfrm>
            <a:off x="1089988" y="4596722"/>
            <a:ext cx="379279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Mutations continue as a tumor grows.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68942-CBDE-5298-45B4-3D072C92F03B}"/>
              </a:ext>
            </a:extLst>
          </p:cNvPr>
          <p:cNvSpPr txBox="1"/>
          <p:nvPr/>
        </p:nvSpPr>
        <p:spPr>
          <a:xfrm>
            <a:off x="3344848" y="5969655"/>
            <a:ext cx="53962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There is no “typical” tumor cell. </a:t>
            </a:r>
          </a:p>
        </p:txBody>
      </p:sp>
    </p:spTree>
    <p:extLst>
      <p:ext uri="{BB962C8B-B14F-4D97-AF65-F5344CB8AC3E}">
        <p14:creationId xmlns:p14="http://schemas.microsoft.com/office/powerpoint/2010/main" val="3904022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8EAA-5F4D-CBE9-5874-E1FE7B6DD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Treating Cancer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67BDFE-9208-DE93-B871-E92F8F31A0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3194037"/>
              </p:ext>
            </p:extLst>
          </p:nvPr>
        </p:nvGraphicFramePr>
        <p:xfrm>
          <a:off x="838200" y="1573836"/>
          <a:ext cx="10515597" cy="466725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99824071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44486640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04374153"/>
                    </a:ext>
                  </a:extLst>
                </a:gridCol>
              </a:tblGrid>
              <a:tr h="77787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Treatment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How it works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Limitation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9066765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Surgery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Remove tumor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Works for solid tumor only,</a:t>
                      </a:r>
                    </a:p>
                    <a:p>
                      <a:pPr algn="ctr"/>
                      <a:r>
                        <a:rPr lang="en-US" sz="1800" dirty="0"/>
                        <a:t>Recurrence from the remainders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4282827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Chemotherapy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Kill rapidly dividing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Also kills healthy dividing cells,</a:t>
                      </a:r>
                    </a:p>
                    <a:p>
                      <a:pPr algn="ctr"/>
                      <a:r>
                        <a:rPr lang="en-US" sz="1800" dirty="0"/>
                        <a:t>Drug resistance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5133715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Radiation therapy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Damage DNA with radiation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Sensitive to small changes,</a:t>
                      </a:r>
                    </a:p>
                    <a:p>
                      <a:pPr algn="ctr"/>
                      <a:r>
                        <a:rPr lang="en-US" sz="1800" dirty="0"/>
                        <a:t>Radiation resistance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65261036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Immunotherapy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Activate the immune system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Immune-suppressive / evasive tumors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7843120"/>
                  </a:ext>
                </a:extLst>
              </a:tr>
              <a:tr h="7778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Targeted therapies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Targets specific pathways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Applicable only to a limited portion of tumor cells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>
                          <a:lumMod val="90000"/>
                          <a:lumOff val="1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27894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4928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74F6-910C-8045-E8E0-453FFD6B0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Makes a Tumor Difficult to Treat?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A9F09-9D84-C70A-5CC9-1FB65B8AA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471"/>
            <a:ext cx="10515600" cy="4351338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Every patient is different</a:t>
            </a:r>
          </a:p>
          <a:p>
            <a:pPr>
              <a:lnSpc>
                <a:spcPct val="120000"/>
              </a:lnSpc>
            </a:pPr>
            <a:r>
              <a:rPr lang="en-US" dirty="0"/>
              <a:t>Tumor heterogeneity</a:t>
            </a:r>
          </a:p>
          <a:p>
            <a:pPr>
              <a:lnSpc>
                <a:spcPct val="120000"/>
              </a:lnSpc>
            </a:pPr>
            <a:r>
              <a:rPr lang="en-US" dirty="0"/>
              <a:t>Treatment resistance</a:t>
            </a:r>
          </a:p>
          <a:p>
            <a:pPr>
              <a:lnSpc>
                <a:spcPct val="120000"/>
              </a:lnSpc>
            </a:pPr>
            <a:r>
              <a:rPr lang="en-US" dirty="0"/>
              <a:t>Changing tissue environment</a:t>
            </a:r>
          </a:p>
          <a:p>
            <a:pPr>
              <a:lnSpc>
                <a:spcPct val="120000"/>
              </a:lnSpc>
            </a:pPr>
            <a:r>
              <a:rPr lang="en-US" dirty="0"/>
              <a:t>Complex immune interactions</a:t>
            </a:r>
          </a:p>
          <a:p>
            <a:pPr>
              <a:lnSpc>
                <a:spcPct val="120000"/>
              </a:lnSpc>
            </a:pPr>
            <a:r>
              <a:rPr lang="en-US" dirty="0"/>
              <a:t>Doctors must decide treatment plan before knowing what will happen</a:t>
            </a:r>
          </a:p>
        </p:txBody>
      </p:sp>
    </p:spTree>
    <p:extLst>
      <p:ext uri="{BB962C8B-B14F-4D97-AF65-F5344CB8AC3E}">
        <p14:creationId xmlns:p14="http://schemas.microsoft.com/office/powerpoint/2010/main" val="287055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6347A81B-028C-778B-43FE-D29D317D6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910" y="2716695"/>
            <a:ext cx="1940621" cy="19406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C88CC3-839C-EC6D-8237-CA486DC4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Treatment Resistance and Tumor Relapse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0F1F1D5-4B96-335F-6533-D91C88C798C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6317" y="2836607"/>
            <a:ext cx="2268871" cy="156229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C6EF1C-389D-71D4-3984-CFB3AA6420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3860" y="1822174"/>
            <a:ext cx="4463068" cy="43547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Why do some cells survive?</a:t>
            </a:r>
          </a:p>
          <a:p>
            <a:pPr marL="0" indent="0">
              <a:buNone/>
            </a:pPr>
            <a:r>
              <a:rPr lang="en-US" sz="2000" dirty="0"/>
              <a:t>         </a:t>
            </a:r>
            <a:r>
              <a:rPr lang="en-US" sz="2200" dirty="0"/>
              <a:t>Mutation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</a:t>
            </a:r>
            <a:r>
              <a:rPr lang="en-US" sz="2200" dirty="0"/>
              <a:t>Local tissue environment 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2000" dirty="0"/>
              <a:t>        (e.g. low oxygen)</a:t>
            </a:r>
          </a:p>
          <a:p>
            <a:pPr marL="0" indent="0">
              <a:spcBef>
                <a:spcPts val="100"/>
              </a:spcBef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200" dirty="0"/>
              <a:t>        Ineffective delivery of treatment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     </a:t>
            </a:r>
            <a:r>
              <a:rPr lang="en-US" sz="2200" dirty="0"/>
              <a:t>Immune evasion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5F1AE94-79C3-7514-54CE-46F8A466D1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526" y="2893757"/>
            <a:ext cx="2248441" cy="1427184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D4091E42-94DA-3CF0-3F80-44CB345D7795}"/>
              </a:ext>
            </a:extLst>
          </p:cNvPr>
          <p:cNvSpPr/>
          <p:nvPr/>
        </p:nvSpPr>
        <p:spPr>
          <a:xfrm>
            <a:off x="2942967" y="3368441"/>
            <a:ext cx="450784" cy="425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7EA624F-4422-2F43-DA0C-EEEE437869A0}"/>
              </a:ext>
            </a:extLst>
          </p:cNvPr>
          <p:cNvSpPr/>
          <p:nvPr/>
        </p:nvSpPr>
        <p:spPr>
          <a:xfrm>
            <a:off x="5275349" y="3368441"/>
            <a:ext cx="450784" cy="4255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95599-8B3F-60B9-FD4E-39C8B9E6A941}"/>
              </a:ext>
            </a:extLst>
          </p:cNvPr>
          <p:cNvSpPr txBox="1"/>
          <p:nvPr/>
        </p:nvSpPr>
        <p:spPr>
          <a:xfrm>
            <a:off x="884067" y="2397719"/>
            <a:ext cx="2055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Before treatment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3770D6-F84E-8B70-27C8-B4BC9B694296}"/>
              </a:ext>
            </a:extLst>
          </p:cNvPr>
          <p:cNvSpPr txBox="1"/>
          <p:nvPr/>
        </p:nvSpPr>
        <p:spPr>
          <a:xfrm>
            <a:off x="3454914" y="2407451"/>
            <a:ext cx="19995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Treatment effect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F00A3A-DBE4-86EA-E6FB-6636F80AFAF5}"/>
              </a:ext>
            </a:extLst>
          </p:cNvPr>
          <p:cNvSpPr txBox="1"/>
          <p:nvPr/>
        </p:nvSpPr>
        <p:spPr>
          <a:xfrm>
            <a:off x="5986690" y="2397719"/>
            <a:ext cx="12314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Regrowth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D7A8450-83B1-43AA-DFFE-79880FF74A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484585">
            <a:off x="7702965" y="2301101"/>
            <a:ext cx="329752" cy="35723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5A6B64C-6EC2-F0A6-60AE-5F996D6BF2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7932" y="4108251"/>
            <a:ext cx="295669" cy="32290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8D1F917-6A5F-B25C-DBCD-4CE8271A90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29469" y="4964699"/>
            <a:ext cx="295669" cy="35726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EEC71E4-C16B-EFAE-BFA1-1069CF59F2D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467" y="3133067"/>
            <a:ext cx="295668" cy="296368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4A1B8F12-89BD-94FB-59B2-5507FBD4A817}"/>
              </a:ext>
            </a:extLst>
          </p:cNvPr>
          <p:cNvSpPr txBox="1"/>
          <p:nvPr/>
        </p:nvSpPr>
        <p:spPr>
          <a:xfrm>
            <a:off x="1136228" y="4698791"/>
            <a:ext cx="63092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Even a few surviving cells may lead to tumor relapse.</a:t>
            </a:r>
          </a:p>
        </p:txBody>
      </p:sp>
    </p:spTree>
    <p:extLst>
      <p:ext uri="{BB962C8B-B14F-4D97-AF65-F5344CB8AC3E}">
        <p14:creationId xmlns:p14="http://schemas.microsoft.com/office/powerpoint/2010/main" val="268859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0CCD-2950-427C-8B22-427E9B0C9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Tumor at Detection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F189DE-A258-7E0A-3FE7-A628421C98A0}"/>
              </a:ext>
            </a:extLst>
          </p:cNvPr>
          <p:cNvSpPr/>
          <p:nvPr/>
        </p:nvSpPr>
        <p:spPr>
          <a:xfrm>
            <a:off x="233021" y="1685097"/>
            <a:ext cx="1053549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 prst="angle"/>
            </a:sp3d>
          </a:bodyPr>
          <a:lstStyle/>
          <a:p>
            <a:pPr algn="ctr"/>
            <a:r>
              <a:rPr lang="en-US" sz="3600" b="1" dirty="0">
                <a:ln w="22225">
                  <a:solidFill>
                    <a:schemeClr val="accent1">
                      <a:lumMod val="75000"/>
                    </a:schemeClr>
                  </a:solidFill>
                  <a:prstDash val="solid"/>
                </a:ln>
                <a:solidFill>
                  <a:schemeClr val="accent4">
                    <a:lumMod val="75000"/>
                  </a:schemeClr>
                </a:solidFill>
              </a:rPr>
              <a:t>Q.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BF97EE-5F41-6FA7-C52F-08A2BE4AB99C}"/>
              </a:ext>
            </a:extLst>
          </p:cNvPr>
          <p:cNvSpPr txBox="1"/>
          <p:nvPr/>
        </p:nvSpPr>
        <p:spPr>
          <a:xfrm>
            <a:off x="1509279" y="2705096"/>
            <a:ext cx="4402667" cy="2356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tx2">
                  <a:lumMod val="90000"/>
                  <a:lumOff val="10000"/>
                </a:schemeClr>
              </a:buClr>
              <a:buSzPct val="120000"/>
              <a:buFont typeface="+mj-lt"/>
              <a:buAutoNum type="alphaUcPeriod"/>
            </a:pPr>
            <a:r>
              <a:rPr lang="en-US" sz="2000" dirty="0"/>
              <a:t>100 cells</a:t>
            </a:r>
          </a:p>
          <a:p>
            <a:pPr marL="342900" indent="-342900">
              <a:lnSpc>
                <a:spcPct val="150000"/>
              </a:lnSpc>
              <a:buClr>
                <a:schemeClr val="tx2">
                  <a:lumMod val="90000"/>
                  <a:lumOff val="10000"/>
                </a:schemeClr>
              </a:buClr>
              <a:buSzPct val="120000"/>
              <a:buFont typeface="+mj-lt"/>
              <a:buAutoNum type="alphaUcPeriod"/>
            </a:pPr>
            <a:r>
              <a:rPr lang="en-US" sz="2000" dirty="0"/>
              <a:t>10,000 cells</a:t>
            </a:r>
          </a:p>
          <a:p>
            <a:pPr marL="342900" indent="-342900">
              <a:lnSpc>
                <a:spcPct val="150000"/>
              </a:lnSpc>
              <a:buClr>
                <a:schemeClr val="tx2">
                  <a:lumMod val="90000"/>
                  <a:lumOff val="10000"/>
                </a:schemeClr>
              </a:buClr>
              <a:buSzPct val="120000"/>
              <a:buFont typeface="+mj-lt"/>
              <a:buAutoNum type="alphaUcPeriod"/>
            </a:pPr>
            <a:r>
              <a:rPr lang="en-US" sz="2000" dirty="0"/>
              <a:t>1 million cells</a:t>
            </a:r>
          </a:p>
          <a:p>
            <a:pPr marL="342900" indent="-342900">
              <a:lnSpc>
                <a:spcPct val="150000"/>
              </a:lnSpc>
              <a:buClr>
                <a:schemeClr val="tx2">
                  <a:lumMod val="90000"/>
                  <a:lumOff val="10000"/>
                </a:schemeClr>
              </a:buClr>
              <a:buSzPct val="120000"/>
              <a:buFont typeface="+mj-lt"/>
              <a:buAutoNum type="alphaUcPeriod"/>
            </a:pPr>
            <a:r>
              <a:rPr lang="en-US" sz="2000" dirty="0"/>
              <a:t>1 billion cells</a:t>
            </a:r>
          </a:p>
          <a:p>
            <a:pPr>
              <a:lnSpc>
                <a:spcPct val="150000"/>
              </a:lnSpc>
              <a:buClr>
                <a:schemeClr val="tx2">
                  <a:lumMod val="90000"/>
                  <a:lumOff val="10000"/>
                </a:schemeClr>
              </a:buClr>
              <a:buSzPct val="120000"/>
            </a:pPr>
            <a:r>
              <a:rPr lang="en-US" dirty="0"/>
              <a:t>         </a:t>
            </a:r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Which one do you think is the closest?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C5B9555-3F80-895D-C261-C7C9CE17A7DB}"/>
              </a:ext>
            </a:extLst>
          </p:cNvPr>
          <p:cNvSpPr/>
          <p:nvPr/>
        </p:nvSpPr>
        <p:spPr>
          <a:xfrm>
            <a:off x="279403" y="1762081"/>
            <a:ext cx="6897756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How many cells does a tumor contain</a:t>
            </a:r>
          </a:p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when it is typically detected by doctors?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FFC56F4-271A-9551-38BB-AB4D27D87FD7}"/>
              </a:ext>
            </a:extLst>
          </p:cNvPr>
          <p:cNvSpPr/>
          <p:nvPr/>
        </p:nvSpPr>
        <p:spPr>
          <a:xfrm>
            <a:off x="7141822" y="1907646"/>
            <a:ext cx="4082769" cy="911131"/>
          </a:xfrm>
          <a:prstGeom prst="roundRect">
            <a:avLst>
              <a:gd name="adj" fmla="val 8490"/>
            </a:avLst>
          </a:prstGeom>
          <a:solidFill>
            <a:schemeClr val="bg1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accent5">
                    <a:lumMod val="50000"/>
                  </a:schemeClr>
                </a:solidFill>
              </a:rPr>
              <a:t>D.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</a:rPr>
              <a:t>About 1 billion cells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F6D3B3-D89E-6638-EED7-CC5DCDF0E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174395" y="2903215"/>
            <a:ext cx="3833192" cy="21337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FD0ACD-79E5-3D1F-B36D-4D2ACE00F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356" y="5376295"/>
            <a:ext cx="10196444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9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46D504-3AA5-D871-A1BA-1CB7A960A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9263" y="2357006"/>
            <a:ext cx="2796782" cy="25224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F44D00-41FE-3C1E-C2FF-47FECA876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Mathematical Oncology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7D93A-CF77-5E61-35EA-C657092245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8697" y="1542755"/>
            <a:ext cx="3506970" cy="3786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7A3B73-96DE-145A-3D41-4B150BEF90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3870" y="1558168"/>
            <a:ext cx="2232853" cy="40008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12A949-4F6F-3A57-4ACE-21CA3085DB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7955" y="2143627"/>
            <a:ext cx="853514" cy="294919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6132FE8-AC5B-7FB5-8D14-C20AA76067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0552" y="5543773"/>
            <a:ext cx="9792549" cy="108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3370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ADE6F4-7D85-FD21-869D-4DBA4DE5801E}"/>
              </a:ext>
            </a:extLst>
          </p:cNvPr>
          <p:cNvSpPr txBox="1"/>
          <p:nvPr/>
        </p:nvSpPr>
        <p:spPr>
          <a:xfrm>
            <a:off x="4959802" y="2828835"/>
            <a:ext cx="20633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2685153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407</Words>
  <Application>Microsoft Office PowerPoint</Application>
  <PresentationFormat>Widescreen</PresentationFormat>
  <Paragraphs>89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What Is a Tumor? How Tumors Grow, Evolve, and Respond to Treatment</vt:lpstr>
      <vt:lpstr>How Does a Tumor Begin?</vt:lpstr>
      <vt:lpstr>From Tumor to Cancer</vt:lpstr>
      <vt:lpstr>Diversity Within a Tumor</vt:lpstr>
      <vt:lpstr>Treating Cancer</vt:lpstr>
      <vt:lpstr>What Makes a Tumor Difficult to Treat?</vt:lpstr>
      <vt:lpstr>Treatment Resistance and Tumor Relapse</vt:lpstr>
      <vt:lpstr>Tumor at Detection</vt:lpstr>
      <vt:lpstr>Mathematical Oncology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Hyunah Lim</dc:creator>
  <cp:lastModifiedBy>Hyunah Lim</cp:lastModifiedBy>
  <cp:revision>33</cp:revision>
  <dcterms:created xsi:type="dcterms:W3CDTF">2026-07-25T01:43:47Z</dcterms:created>
  <dcterms:modified xsi:type="dcterms:W3CDTF">2026-07-28T13:18:52Z</dcterms:modified>
</cp:coreProperties>
</file>