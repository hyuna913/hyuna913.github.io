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0" r:id="rId3"/>
    <p:sldId id="273" r:id="rId4"/>
    <p:sldId id="271" r:id="rId5"/>
    <p:sldId id="272" r:id="rId6"/>
    <p:sldId id="277" r:id="rId7"/>
    <p:sldId id="274" r:id="rId8"/>
    <p:sldId id="275" r:id="rId9"/>
    <p:sldId id="278" r:id="rId10"/>
    <p:sldId id="276" r:id="rId11"/>
    <p:sldId id="279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3F3F3F"/>
    <a:srgbClr val="CC3300"/>
    <a:srgbClr val="FF3300"/>
    <a:srgbClr val="DDE0FF"/>
    <a:srgbClr val="F0DDFF"/>
    <a:srgbClr val="FFDDFF"/>
    <a:srgbClr val="0000CC"/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D2339-84B0-4FD9-AC39-B0A5EFF8B9D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ACB1A-E0B1-4184-855D-3B924D3F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lecture we learned what cancer is and how tumors develop. One of the biggest challenges in cancer treatment is that doctors don't know exactly what a tumor will do in the future. Will it grow quickly? Slowly? How well will treatment work?</a:t>
            </a:r>
          </a:p>
          <a:p>
            <a:r>
              <a:rPr lang="en-US" dirty="0"/>
              <a:t>These questions are difficult because every patient's tumor behaves differently.</a:t>
            </a:r>
          </a:p>
          <a:p>
            <a:r>
              <a:rPr lang="en-US" dirty="0"/>
              <a:t>Today we'll see how mathematicians try to answer these questions by building mathematical models.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CB1A-E0B1-4184-855D-3B924D3FAD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97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CB1A-E0B1-4184-855D-3B924D3FAD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56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CB1A-E0B1-4184-855D-3B924D3FAD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06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E851D-4E94-EB4F-ADBD-666DD1A2B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FABEC-C761-BFA4-1F82-E368A6054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3E33A-53C1-89FA-07F1-472143FC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0D481-29B4-06FA-B3E0-5AB51D23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A8BD3-4591-CFB2-2325-C1B7F9CB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3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2E15-9B53-DE7E-F4D3-9468D862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F6C5-2AC8-523E-D3DA-1183A3D51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1B03E-40AC-0CC6-862A-0F2A9C72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4E38E-B77F-75BA-79DD-3EF46DC1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523E5-4B3E-EA77-4A8B-810B28D1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2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671C-7540-89D5-E44C-38BC9323C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5B55-7C6C-DD3E-338B-A05C15B78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55A01-C3EA-0B1E-5C94-5F05E9D9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3EABB-015C-CFC5-8025-8B844FA2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6F499-4D92-0C8F-8484-03377663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04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2116D-64C6-BD20-FD7B-7F8F2D0F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73F00-3112-074A-238A-A7FCD92B4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AD0A-9A8B-38BD-06AF-B9A56E226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B351A-018F-236E-6F9C-B7D7F981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91862-E3B7-D055-01CA-D3336BC7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86B28-6D34-D52E-5871-7667A23D0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0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476F6-F752-F2CD-E029-9421958B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890BC-79BC-1A28-4EF7-59F99792F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D4814-4CE7-1964-4DD7-A195A2B02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42D7C-6E27-A5D5-7FC7-5E244E41D0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45A5A-AEBE-6004-2C05-4EEE58BEB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DB2799-0261-C8E9-DADC-8F3789DE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954940-FE75-7462-D255-99448269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115B0-D371-A8FB-F30B-785EBA4D3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15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4862-D7CF-DC1F-5582-A319F57F5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4CF1D-0F43-3F1C-D95C-014D3750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90AAE1-3D37-4F77-3ED1-D8E65AD64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86544-DBE7-3299-7836-B2E0DC8A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7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BC515-ADF1-C5DB-56B5-01EA7F52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DA5EE0-5666-C1CE-CC5C-47188E0C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A839B-F78B-F529-10FF-80FA5C37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8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92D1-D544-CBF3-A669-DBB55C75C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9EEA4-8633-B5AA-5C13-9D88E9C26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1364F-BB15-57B8-9369-664E30501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434C6-FDBF-3220-D851-8227A63E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97DB1-9F43-1B02-562F-3BF1F139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1AEED-BCE7-E2D1-1474-72E061CC1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34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F163-3FE8-72D9-FBA0-1D52C368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57997-E913-982F-E18A-DCD6564CF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47D82-2CC4-8AE2-80D7-1E4839F5F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10877-0016-9689-BAC3-8E07AC4A9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361CD-F131-E045-C784-8D907EE16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594EE-808B-A3FB-C923-5C2F52DF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78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B073-36FC-BEB5-732A-3F40CF90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2B7B1-3AAF-569F-C3BF-B791B1DCF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6D943-832C-97B5-D06A-D78A9F14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2274-FAFC-14F4-CC2D-55D7C26F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7DE72-23D7-A0E3-4A40-097C07BE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60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38962E-E99E-3A42-F8FD-2AB09CA38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03610-EE3E-5597-7D11-268FF34FC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C6CBC-57DF-249D-4453-0C9C2972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76A1E-3063-65E3-0F95-B3BF275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369FE-0751-70B6-EBAC-CDB85B1B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95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923FC0-B573-79C2-A505-AC826C55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61A49-59D3-5BA1-C9EA-5A669B16E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7326-7BAF-AE6B-78D9-3487ADAED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E292E-1C42-4448-89E0-8A0E3E2BD3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5CBD1-F911-748A-9DF1-290ADBAB0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43233-5B59-1131-F50E-80DBFAD92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24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F120-88CA-E6EE-FA24-47EA7DFA32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5400" dirty="0"/>
              <a:t>Introduction to</a:t>
            </a:r>
            <a:br>
              <a:rPr lang="en-US" sz="5400" dirty="0"/>
            </a:br>
            <a:r>
              <a:rPr lang="en-US" sz="5400" dirty="0"/>
              <a:t>Mathematical Oncology</a:t>
            </a:r>
            <a:br>
              <a:rPr lang="en-US" dirty="0"/>
            </a:br>
            <a:r>
              <a:rPr lang="en-US" sz="2600" i="1" dirty="0">
                <a:solidFill>
                  <a:srgbClr val="525252"/>
                </a:solidFill>
              </a:rPr>
              <a:t>Classical ODE Models of Tumor Growth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A387A-E087-AD59-ADAF-C5E45EC2E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94176"/>
            <a:ext cx="9144000" cy="1408176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sz="3200" dirty="0"/>
              <a:t>Hyunah Lim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Postdoctoral Associate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Institute for Health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41EBA6-678B-B859-9E8F-02A6B8D39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787" y="5469143"/>
            <a:ext cx="3273230" cy="7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911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7E10C-5ED4-A4B1-06CE-40B4ED06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59F7B5-D6DA-7CFF-B011-ED250BED9D98}"/>
              </a:ext>
            </a:extLst>
          </p:cNvPr>
          <p:cNvSpPr txBox="1"/>
          <p:nvPr/>
        </p:nvSpPr>
        <p:spPr>
          <a:xfrm>
            <a:off x="5788152" y="1710940"/>
            <a:ext cx="6190488" cy="4117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Questions doctors face every day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fast will this tumor grow?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treatment schedule should we choose?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Which treatment is most effective?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will this patient’s tumor respond?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E96F99-15A3-ADA2-57B5-2B7FE1E2C2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93" y="1837319"/>
            <a:ext cx="4884218" cy="447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10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C0067-F788-97D3-6478-DDEB4C83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Classical Models of Tumor Growth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A1D69-5041-4BBA-530B-3EDE25D58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371" y="1778118"/>
            <a:ext cx="10515600" cy="2673223"/>
          </a:xfrm>
        </p:spPr>
        <p:txBody>
          <a:bodyPr/>
          <a:lstStyle/>
          <a:p>
            <a:r>
              <a:rPr lang="en-US" dirty="0"/>
              <a:t>Exponential Model</a:t>
            </a:r>
          </a:p>
          <a:p>
            <a:r>
              <a:rPr lang="en-US" dirty="0"/>
              <a:t>Logistic Model</a:t>
            </a:r>
          </a:p>
          <a:p>
            <a:r>
              <a:rPr lang="en-US" dirty="0"/>
              <a:t>Gompertz Model</a:t>
            </a:r>
          </a:p>
          <a:p>
            <a:r>
              <a:rPr lang="en-US" dirty="0"/>
              <a:t>von </a:t>
            </a:r>
            <a:r>
              <a:rPr lang="en-US" dirty="0" err="1"/>
              <a:t>Bertalanffy</a:t>
            </a:r>
            <a:r>
              <a:rPr lang="en-US" dirty="0"/>
              <a:t>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01155-45DA-039C-4014-8544EFF002C9}"/>
              </a:ext>
            </a:extLst>
          </p:cNvPr>
          <p:cNvSpPr txBox="1"/>
          <p:nvPr/>
        </p:nvSpPr>
        <p:spPr>
          <a:xfrm>
            <a:off x="1103342" y="4737555"/>
            <a:ext cx="100836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Early tumor growth models describe how the size (or volume)</a:t>
            </a:r>
          </a:p>
          <a:p>
            <a:pPr algn="ctr"/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of a tumor changes over time using mathematics.</a:t>
            </a:r>
          </a:p>
        </p:txBody>
      </p:sp>
    </p:spTree>
    <p:extLst>
      <p:ext uri="{BB962C8B-B14F-4D97-AF65-F5344CB8AC3E}">
        <p14:creationId xmlns:p14="http://schemas.microsoft.com/office/powerpoint/2010/main" val="3223340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AF1F4-D8DF-12F5-30B4-A95A62D7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Growth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222413-BA44-5DB4-7604-3B3B3A2100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2931845"/>
              </a:xfrm>
            </p:spPr>
            <p:txBody>
              <a:bodyPr/>
              <a:lstStyle/>
              <a:p>
                <a:r>
                  <a:rPr lang="en-US" sz="32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Key assumption:</a:t>
                </a:r>
              </a:p>
              <a:p>
                <a:pPr marL="0" indent="0">
                  <a:buNone/>
                </a:pPr>
                <a:r>
                  <a:rPr lang="en-US" dirty="0"/>
                  <a:t>	Every tumor cell divides at the same constant rate.</a:t>
                </a:r>
              </a:p>
              <a:p>
                <a:r>
                  <a:rPr lang="en-US" sz="32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𝑟𝑛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222413-BA44-5DB4-7604-3B3B3A210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2931845"/>
              </a:xfrm>
              <a:blipFill>
                <a:blip r:embed="rId2"/>
                <a:stretch>
                  <a:fillRect l="-1333" t="-4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1FB49B4-DBB6-B1A6-3490-B9D316A7E741}"/>
              </a:ext>
            </a:extLst>
          </p:cNvPr>
          <p:cNvSpPr txBox="1"/>
          <p:nvPr/>
        </p:nvSpPr>
        <p:spPr>
          <a:xfrm>
            <a:off x="6287030" y="4835564"/>
            <a:ext cx="38544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Growth rate becomes larger</a:t>
            </a:r>
          </a:p>
          <a:p>
            <a:pPr algn="ctr"/>
            <a:r>
              <a:rPr lang="en-US" sz="2400" dirty="0"/>
              <a:t>as the tumor gets larger.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AE33A-2274-C61A-3689-72298708C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963" y="4125685"/>
            <a:ext cx="3584010" cy="236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68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EA81-F4B5-B5C7-A04B-09AC7EECF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Growth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4C4171-13C9-47E8-43C1-2F1CF5F284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42661"/>
                <a:ext cx="10515600" cy="4434302"/>
              </a:xfrm>
            </p:spPr>
            <p:txBody>
              <a:bodyPr/>
              <a:lstStyle/>
              <a:p>
                <a:r>
                  <a:rPr lang="en-US" sz="32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Key assumption:</a:t>
                </a:r>
              </a:p>
              <a:p>
                <a:pPr marL="0" indent="0">
                  <a:buNone/>
                </a:pPr>
                <a:r>
                  <a:rPr lang="en-US" dirty="0"/>
                  <a:t>	Tumor growth slows down as resources become limited.</a:t>
                </a:r>
              </a:p>
              <a:p>
                <a:r>
                  <a:rPr lang="en-US" sz="32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4C4171-13C9-47E8-43C1-2F1CF5F284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42661"/>
                <a:ext cx="10515600" cy="4434302"/>
              </a:xfrm>
              <a:blipFill>
                <a:blip r:embed="rId2"/>
                <a:stretch>
                  <a:fillRect l="-1333" t="-2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73E0010-24D6-AF52-389C-798F9D290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230" y="4193278"/>
            <a:ext cx="3681770" cy="22995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008D38-FF39-85F1-4A1A-2602F782E2A5}"/>
              </a:ext>
            </a:extLst>
          </p:cNvPr>
          <p:cNvSpPr txBox="1"/>
          <p:nvPr/>
        </p:nvSpPr>
        <p:spPr>
          <a:xfrm>
            <a:off x="6245522" y="4680116"/>
            <a:ext cx="45592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Growth rate slows and eventually</a:t>
            </a:r>
          </a:p>
          <a:p>
            <a:pPr algn="ctr"/>
            <a:r>
              <a:rPr lang="en-US" sz="2400" dirty="0"/>
              <a:t>Approaches zero as the tumor</a:t>
            </a:r>
          </a:p>
          <a:p>
            <a:pPr algn="ctr"/>
            <a:r>
              <a:rPr lang="en-US" sz="2400" dirty="0"/>
              <a:t>nears its carrying capacity.</a:t>
            </a:r>
          </a:p>
        </p:txBody>
      </p:sp>
    </p:spTree>
    <p:extLst>
      <p:ext uri="{BB962C8B-B14F-4D97-AF65-F5344CB8AC3E}">
        <p14:creationId xmlns:p14="http://schemas.microsoft.com/office/powerpoint/2010/main" val="1247439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8BB4B-2BEF-4442-7204-0722B7E0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Gompertz Growth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0832A8-AF02-4D56-3378-DF506C0A7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43" y="4235572"/>
            <a:ext cx="3614057" cy="22573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6B8CEA9-D89D-0BD3-8056-3ADB1AC357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2910073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Key assumption:</a:t>
                </a:r>
              </a:p>
              <a:p>
                <a:pPr marL="0" indent="0">
                  <a:buNone/>
                </a:pPr>
                <a:r>
                  <a:rPr lang="en-US" dirty="0"/>
                  <a:t>	Growth slows gradually as the tumor becomes larger.</a:t>
                </a:r>
              </a:p>
              <a:p>
                <a:r>
                  <a:rPr lang="en-US" sz="32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6B8CEA9-D89D-0BD3-8056-3ADB1AC357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2910073"/>
              </a:xfrm>
              <a:blipFill>
                <a:blip r:embed="rId3"/>
                <a:stretch>
                  <a:fillRect l="-1333" t="-4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28D7C01-EADB-4697-FD65-A62889B26AE0}"/>
              </a:ext>
            </a:extLst>
          </p:cNvPr>
          <p:cNvSpPr txBox="1"/>
          <p:nvPr/>
        </p:nvSpPr>
        <p:spPr>
          <a:xfrm>
            <a:off x="5954888" y="4835564"/>
            <a:ext cx="45187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Growth rate decreases gradually </a:t>
            </a:r>
          </a:p>
          <a:p>
            <a:pPr algn="ctr"/>
            <a:r>
              <a:rPr lang="en-US" sz="2400" dirty="0"/>
              <a:t>throughout growth.</a:t>
            </a:r>
          </a:p>
        </p:txBody>
      </p:sp>
    </p:spTree>
    <p:extLst>
      <p:ext uri="{BB962C8B-B14F-4D97-AF65-F5344CB8AC3E}">
        <p14:creationId xmlns:p14="http://schemas.microsoft.com/office/powerpoint/2010/main" val="391221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B4CF3-B1A2-1B60-CA41-CC214E6BB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von </a:t>
            </a:r>
            <a:r>
              <a:rPr lang="en-US" dirty="0" err="1"/>
              <a:t>Bertalanffy</a:t>
            </a:r>
            <a:r>
              <a:rPr lang="en-US" dirty="0"/>
              <a:t> Growth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C762786-7754-A5A1-A076-A0495B9E35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36361"/>
                <a:ext cx="10515600" cy="2842628"/>
              </a:xfrm>
            </p:spPr>
            <p:txBody>
              <a:bodyPr/>
              <a:lstStyle/>
              <a:p>
                <a:r>
                  <a:rPr lang="en-US" sz="32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Key assumption: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2700" dirty="0"/>
                  <a:t>Growth depends on the balance between cell birth and death.</a:t>
                </a:r>
              </a:p>
              <a:p>
                <a:r>
                  <a:rPr lang="en-US" sz="32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C762786-7754-A5A1-A076-A0495B9E35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36361"/>
                <a:ext cx="10515600" cy="2842628"/>
              </a:xfrm>
              <a:blipFill>
                <a:blip r:embed="rId2"/>
                <a:stretch>
                  <a:fillRect l="-1333" t="-4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9D6E388-A7E6-C766-2991-C8E2EB752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216" y="4082366"/>
            <a:ext cx="3624784" cy="22640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355C55-7858-D016-6F88-9B2B2BF2D5BF}"/>
                  </a:ext>
                </a:extLst>
              </p:cNvPr>
              <p:cNvSpPr txBox="1"/>
              <p:nvPr/>
            </p:nvSpPr>
            <p:spPr>
              <a:xfrm>
                <a:off x="6258663" y="4753268"/>
                <a:ext cx="3911199" cy="1087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Birth dominates death when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355C55-7858-D016-6F88-9B2B2BF2D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663" y="4753268"/>
                <a:ext cx="3911199" cy="1087349"/>
              </a:xfrm>
              <a:prstGeom prst="rect">
                <a:avLst/>
              </a:prstGeom>
              <a:blipFill>
                <a:blip r:embed="rId4"/>
                <a:stretch>
                  <a:fillRect l="-2184" t="-4494" r="-1872" b="-5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3296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DF252B-13E2-5441-AA24-561080536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03713"/>
            <a:ext cx="5770546" cy="38406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839E6A-4C65-EF5D-A3EE-D1116F2C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Classical Tumor Growth Models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A0C21E6-4133-01C9-3947-73222583FA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4000822"/>
              </p:ext>
            </p:extLst>
          </p:nvPr>
        </p:nvGraphicFramePr>
        <p:xfrm>
          <a:off x="6438058" y="2027583"/>
          <a:ext cx="4915742" cy="390450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63447">
                  <a:extLst>
                    <a:ext uri="{9D8B030D-6E8A-4147-A177-3AD203B41FA5}">
                      <a16:colId xmlns:a16="http://schemas.microsoft.com/office/drawing/2014/main" val="1006392613"/>
                    </a:ext>
                  </a:extLst>
                </a:gridCol>
                <a:gridCol w="2652295">
                  <a:extLst>
                    <a:ext uri="{9D8B030D-6E8A-4147-A177-3AD203B41FA5}">
                      <a16:colId xmlns:a16="http://schemas.microsoft.com/office/drawing/2014/main" val="2144173984"/>
                    </a:ext>
                  </a:extLst>
                </a:gridCol>
              </a:tblGrid>
              <a:tr h="57162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Model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Main Idea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830513978"/>
                  </a:ext>
                </a:extLst>
              </a:tr>
              <a:tr h="83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Exponential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Unlimited growth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658705"/>
                  </a:ext>
                </a:extLst>
              </a:tr>
              <a:tr h="83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Logistic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Resource 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3433896"/>
                  </a:ext>
                </a:extLst>
              </a:tr>
              <a:tr h="83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Gompertz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Gradually slowing growth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711606"/>
                  </a:ext>
                </a:extLst>
              </a:tr>
              <a:tr h="833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von </a:t>
                      </a:r>
                      <a:r>
                        <a:rPr lang="en-US" sz="2000" dirty="0" err="1"/>
                        <a:t>Bertalanffy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Cell birth vs. Cell 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65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615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5BDB-0C9A-494A-2AD8-6C5A567D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908EA-87F5-B543-59D1-E246B56B9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6585"/>
            <a:ext cx="10515600" cy="3790378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Classical models help us</a:t>
            </a:r>
          </a:p>
          <a:p>
            <a:pPr lvl="1"/>
            <a:r>
              <a:rPr lang="en-US" dirty="0"/>
              <a:t>capture tumor volume change</a:t>
            </a:r>
          </a:p>
          <a:p>
            <a:pPr lvl="1"/>
            <a:r>
              <a:rPr lang="en-US" dirty="0"/>
              <a:t>provide a starting point for cancer modelling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However, many other interesting questions remain:</a:t>
            </a:r>
          </a:p>
          <a:p>
            <a:pPr lvl="1"/>
            <a:r>
              <a:rPr lang="en-US" dirty="0"/>
              <a:t>Tumor cells in different locations grow differently</a:t>
            </a:r>
          </a:p>
          <a:p>
            <a:pPr lvl="1"/>
            <a:r>
              <a:rPr lang="en-US" dirty="0"/>
              <a:t>Incorporating spatial variation in tissue environment</a:t>
            </a:r>
          </a:p>
          <a:p>
            <a:pPr lvl="1"/>
            <a:r>
              <a:rPr lang="en-US" dirty="0"/>
              <a:t>Overcoming treatment delivery issues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A99203-0F17-FEC8-A1BC-DF467FB853A1}"/>
              </a:ext>
            </a:extLst>
          </p:cNvPr>
          <p:cNvSpPr txBox="1"/>
          <p:nvPr/>
        </p:nvSpPr>
        <p:spPr>
          <a:xfrm>
            <a:off x="4148328" y="1690688"/>
            <a:ext cx="3491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Every model has limits.</a:t>
            </a:r>
          </a:p>
        </p:txBody>
      </p:sp>
    </p:spTree>
    <p:extLst>
      <p:ext uri="{BB962C8B-B14F-4D97-AF65-F5344CB8AC3E}">
        <p14:creationId xmlns:p14="http://schemas.microsoft.com/office/powerpoint/2010/main" val="2658212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48B23-1B67-6639-2B53-CF206748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 of the Classical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206658-1C55-B565-4CA7-5ECDA8FC9F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3636"/>
                <a:ext cx="10515600" cy="4593328"/>
              </a:xfrm>
            </p:spPr>
            <p:txBody>
              <a:bodyPr/>
              <a:lstStyle/>
              <a:p>
                <a:r>
                  <a:rPr lang="en-US" dirty="0"/>
                  <a:t>Adding space:</a:t>
                </a:r>
              </a:p>
              <a:p>
                <a:pPr marL="0" indent="0">
                  <a:buNone/>
                </a:pPr>
                <a:r>
                  <a:rPr lang="en-US" dirty="0"/>
                  <a:t>	e.g.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Adding therapy: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206658-1C55-B565-4CA7-5ECDA8FC9F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3636"/>
                <a:ext cx="10515600" cy="4593328"/>
              </a:xfrm>
              <a:blipFill>
                <a:blip r:embed="rId2"/>
                <a:stretch>
                  <a:fillRect l="-1043" t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95E2874-3F97-F1FF-CDA4-FCB0B0C26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68" y="3495173"/>
            <a:ext cx="2247105" cy="21466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547B3-4B75-5F84-3D0E-BE5F82C267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674" y="3523863"/>
            <a:ext cx="2247105" cy="21466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211CD2-1A51-6B9C-06A5-7BA332E277B9}"/>
              </a:ext>
            </a:extLst>
          </p:cNvPr>
          <p:cNvSpPr txBox="1"/>
          <p:nvPr/>
        </p:nvSpPr>
        <p:spPr>
          <a:xfrm>
            <a:off x="1665596" y="5795074"/>
            <a:ext cx="3562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Drug resistance evolution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FD5A81-89FF-F50B-E2D9-8CD154DD67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512" y="3557856"/>
            <a:ext cx="2277365" cy="2058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1CBB3F-1BAC-3F2A-4FB6-E3135896DA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975" y="3548714"/>
            <a:ext cx="2264008" cy="2058738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BFBB2129-58E3-AD4E-D9ED-3E1A4D7A3B1D}"/>
              </a:ext>
            </a:extLst>
          </p:cNvPr>
          <p:cNvSpPr/>
          <p:nvPr/>
        </p:nvSpPr>
        <p:spPr>
          <a:xfrm>
            <a:off x="3158457" y="4462272"/>
            <a:ext cx="427733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CEFBE87-FF37-1C60-2FC0-7C4A636D5F28}"/>
              </a:ext>
            </a:extLst>
          </p:cNvPr>
          <p:cNvSpPr/>
          <p:nvPr/>
        </p:nvSpPr>
        <p:spPr>
          <a:xfrm>
            <a:off x="8823275" y="4462272"/>
            <a:ext cx="427733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F91E55-D55F-1B9B-FFBC-8138F52FF739}"/>
              </a:ext>
            </a:extLst>
          </p:cNvPr>
          <p:cNvSpPr txBox="1"/>
          <p:nvPr/>
        </p:nvSpPr>
        <p:spPr>
          <a:xfrm>
            <a:off x="7255723" y="5799837"/>
            <a:ext cx="365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Spatial population change</a:t>
            </a:r>
          </a:p>
        </p:txBody>
      </p:sp>
    </p:spTree>
    <p:extLst>
      <p:ext uri="{BB962C8B-B14F-4D97-AF65-F5344CB8AC3E}">
        <p14:creationId xmlns:p14="http://schemas.microsoft.com/office/powerpoint/2010/main" val="1421541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5E97-8784-9B7C-74C0-59F862901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the Right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A4C56-97D9-A39C-2D83-639CE9686E8F}"/>
              </a:ext>
            </a:extLst>
          </p:cNvPr>
          <p:cNvSpPr txBox="1"/>
          <p:nvPr/>
        </p:nvSpPr>
        <p:spPr>
          <a:xfrm>
            <a:off x="944216" y="1624427"/>
            <a:ext cx="499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Q. What model should we choose?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78E78C-F77E-1162-79E8-ACE2CFD2012B}"/>
              </a:ext>
            </a:extLst>
          </p:cNvPr>
          <p:cNvSpPr txBox="1"/>
          <p:nvPr/>
        </p:nvSpPr>
        <p:spPr>
          <a:xfrm>
            <a:off x="967409" y="2080596"/>
            <a:ext cx="9481635" cy="27487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Research Questions: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Capturing tumor volume growth in its early stage </a:t>
            </a:r>
          </a:p>
          <a:p>
            <a:pPr lvl="1"/>
            <a:r>
              <a:rPr lang="en-US" sz="2000" dirty="0"/>
              <a:t>       when tumor grows without resource limitation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Growth saturation / Long-term tumor volume change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Tumor regrowth after radiation therapy at the boundary of the irradiated region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784EDE-747E-4118-455D-E2A4D763DA94}"/>
              </a:ext>
            </a:extLst>
          </p:cNvPr>
          <p:cNvSpPr txBox="1"/>
          <p:nvPr/>
        </p:nvSpPr>
        <p:spPr>
          <a:xfrm>
            <a:off x="1433033" y="5237991"/>
            <a:ext cx="92684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A good model should be as simple as possible 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</a:rPr>
              <a:t>while capturing the key mechanisms needed to explore the research question.</a:t>
            </a:r>
          </a:p>
        </p:txBody>
      </p:sp>
    </p:spTree>
    <p:extLst>
      <p:ext uri="{BB962C8B-B14F-4D97-AF65-F5344CB8AC3E}">
        <p14:creationId xmlns:p14="http://schemas.microsoft.com/office/powerpoint/2010/main" val="1956988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ADE6F4-7D85-FD21-869D-4DBA4DE5801E}"/>
              </a:ext>
            </a:extLst>
          </p:cNvPr>
          <p:cNvSpPr txBox="1"/>
          <p:nvPr/>
        </p:nvSpPr>
        <p:spPr>
          <a:xfrm>
            <a:off x="4959802" y="2828835"/>
            <a:ext cx="20633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85153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476</Words>
  <Application>Microsoft Office PowerPoint</Application>
  <PresentationFormat>Widescreen</PresentationFormat>
  <Paragraphs>89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Introduction to Mathematical Oncology Classical ODE Models of Tumor Growth</vt:lpstr>
      <vt:lpstr>Motivation</vt:lpstr>
      <vt:lpstr>Classical Models of Tumor Growth</vt:lpstr>
      <vt:lpstr>Exponential Growth Model</vt:lpstr>
      <vt:lpstr>Logistic Growth Model</vt:lpstr>
      <vt:lpstr>Gompertz Growth Model</vt:lpstr>
      <vt:lpstr>von Bertalanffy Growth Model</vt:lpstr>
      <vt:lpstr>Comparing Classical Tumor Growth Models</vt:lpstr>
      <vt:lpstr>Limitations and Uses</vt:lpstr>
      <vt:lpstr>Extensions of the Classical Models</vt:lpstr>
      <vt:lpstr>Choosing the Right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Hyunah Lim</dc:creator>
  <cp:lastModifiedBy>Hyunah Lim</cp:lastModifiedBy>
  <cp:revision>69</cp:revision>
  <dcterms:created xsi:type="dcterms:W3CDTF">2026-07-25T01:43:47Z</dcterms:created>
  <dcterms:modified xsi:type="dcterms:W3CDTF">2026-07-28T01:51:26Z</dcterms:modified>
</cp:coreProperties>
</file>